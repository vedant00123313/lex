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C500B4-49D3-498A-9A81-F6A19A6BC674}" v="13" dt="2026-10-20T19:57:35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17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784" y="-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ak Chiraniya" userId="bed0d0ce1978d674" providerId="LiveId" clId="{7FD87131-3580-4DD5-8C2D-25B59D9FA064}"/>
    <pc:docChg chg="modSld">
      <pc:chgData name="Palak Chiraniya" userId="bed0d0ce1978d674" providerId="LiveId" clId="{7FD87131-3580-4DD5-8C2D-25B59D9FA064}" dt="2026-10-20T19:57:35.289" v="11"/>
      <pc:docMkLst>
        <pc:docMk/>
      </pc:docMkLst>
      <pc:sldChg chg="modSp">
        <pc:chgData name="Palak Chiraniya" userId="bed0d0ce1978d674" providerId="LiveId" clId="{7FD87131-3580-4DD5-8C2D-25B59D9FA064}" dt="2026-10-20T19:51:18.524" v="3"/>
        <pc:sldMkLst>
          <pc:docMk/>
          <pc:sldMk cId="0" sldId="256"/>
        </pc:sldMkLst>
        <pc:spChg chg="mod">
          <ac:chgData name="Palak Chiraniya" userId="bed0d0ce1978d674" providerId="LiveId" clId="{7FD87131-3580-4DD5-8C2D-25B59D9FA064}" dt="2026-10-20T19:51:18.524" v="3"/>
          <ac:spMkLst>
            <pc:docMk/>
            <pc:sldMk cId="0" sldId="256"/>
            <ac:spMk id="8" creationId="{00000000-0000-0000-0000-000000000000}"/>
          </ac:spMkLst>
        </pc:spChg>
      </pc:sldChg>
      <pc:sldChg chg="modSp">
        <pc:chgData name="Palak Chiraniya" userId="bed0d0ce1978d674" providerId="LiveId" clId="{7FD87131-3580-4DD5-8C2D-25B59D9FA064}" dt="2026-10-20T19:53:13.090" v="4"/>
        <pc:sldMkLst>
          <pc:docMk/>
          <pc:sldMk cId="0" sldId="258"/>
        </pc:sldMkLst>
        <pc:spChg chg="mod">
          <ac:chgData name="Palak Chiraniya" userId="bed0d0ce1978d674" providerId="LiveId" clId="{7FD87131-3580-4DD5-8C2D-25B59D9FA064}" dt="2026-10-20T19:53:13.090" v="4"/>
          <ac:spMkLst>
            <pc:docMk/>
            <pc:sldMk cId="0" sldId="258"/>
            <ac:spMk id="14" creationId="{00000000-0000-0000-0000-000000000000}"/>
          </ac:spMkLst>
        </pc:spChg>
      </pc:sldChg>
      <pc:sldChg chg="modSp">
        <pc:chgData name="Palak Chiraniya" userId="bed0d0ce1978d674" providerId="LiveId" clId="{7FD87131-3580-4DD5-8C2D-25B59D9FA064}" dt="2026-10-20T19:55:56.140" v="8"/>
        <pc:sldMkLst>
          <pc:docMk/>
          <pc:sldMk cId="0" sldId="262"/>
        </pc:sldMkLst>
        <pc:spChg chg="mod">
          <ac:chgData name="Palak Chiraniya" userId="bed0d0ce1978d674" providerId="LiveId" clId="{7FD87131-3580-4DD5-8C2D-25B59D9FA064}" dt="2026-10-20T19:55:37.089" v="5"/>
          <ac:spMkLst>
            <pc:docMk/>
            <pc:sldMk cId="0" sldId="262"/>
            <ac:spMk id="36" creationId="{00000000-0000-0000-0000-000000000000}"/>
          </ac:spMkLst>
        </pc:spChg>
        <pc:spChg chg="mod">
          <ac:chgData name="Palak Chiraniya" userId="bed0d0ce1978d674" providerId="LiveId" clId="{7FD87131-3580-4DD5-8C2D-25B59D9FA064}" dt="2026-10-20T19:55:56.140" v="8"/>
          <ac:spMkLst>
            <pc:docMk/>
            <pc:sldMk cId="0" sldId="262"/>
            <ac:spMk id="38" creationId="{00000000-0000-0000-0000-000000000000}"/>
          </ac:spMkLst>
        </pc:spChg>
      </pc:sldChg>
      <pc:sldChg chg="modSp">
        <pc:chgData name="Palak Chiraniya" userId="bed0d0ce1978d674" providerId="LiveId" clId="{7FD87131-3580-4DD5-8C2D-25B59D9FA064}" dt="2026-10-20T19:57:35.289" v="11"/>
        <pc:sldMkLst>
          <pc:docMk/>
          <pc:sldMk cId="0" sldId="265"/>
        </pc:sldMkLst>
        <pc:spChg chg="mod">
          <ac:chgData name="Palak Chiraniya" userId="bed0d0ce1978d674" providerId="LiveId" clId="{7FD87131-3580-4DD5-8C2D-25B59D9FA064}" dt="2026-10-20T19:57:35.289" v="11"/>
          <ac:spMkLst>
            <pc:docMk/>
            <pc:sldMk cId="0" sldId="265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1126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~0:45. State the four objectives and the scope honestly: limited C-style subset, not a full C++ compiler.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~1:00. General compiler pipeline only; our practical contains no parser. The symbol table is a supporting structure, not a stage after the parser.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~0:45. Walk a = count + 50; through the scanner. Stress the labels are illustrative; our program prints its own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~0:50. Four terms, then the table. Pattern is the rule; lexeme is the matched text; token is the category; attribute is optional extra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~1:00. Regex describes, automaton recognises. Our program does not construct automata by hand; Flex generates the scanner from the patterns. The 8-character limit is an exercise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~1:00. Three sections separated by %%. Pipeline: flex generates lex.yy.c, gcc builds the executable. The snippet is illustrative, not our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~1:00. Walk the four excerpts: token rules, the &gt;8 identifier check, add_symbol (unique entries), and main opening input.cpp then calling yylex(). Mention that std is listed in the keyword rule but is a namespace, a known limitation; it is not in the sample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~1:15. Genuine terminal output from the team run, scanning the same input.cpp that was supplied. Read the table top to bottom against the input; point out bilateral. Commands shown are the README commands.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~0:45. main is in the table because it is an identifier. bilateral is absent because it was rejected. The dash means no runtime values are stored.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~0:30. Summarise, then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COMPILER DESIGN &amp; LEXICAL ANALYSIS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1481328"/>
            <a:ext cx="10725912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731520" y="566928"/>
            <a:ext cx="1072591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85800"/>
            <a:ext cx="10725912" cy="1325880"/>
          </a:xfrm>
          <a:prstGeom prst="roundRect">
            <a:avLst>
              <a:gd name="adj" fmla="val 2069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1054303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Lexical Analysis and Lex Implementation Demo</a:t>
            </a:r>
            <a:endParaRPr lang="en-US" sz="2700" dirty="0"/>
          </a:p>
        </p:txBody>
      </p:sp>
      <p:sp>
        <p:nvSpPr>
          <p:cNvPr id="4" name="Objectives panel"/>
          <p:cNvSpPr/>
          <p:nvPr/>
        </p:nvSpPr>
        <p:spPr>
          <a:xfrm>
            <a:off x="457200" y="2377440"/>
            <a:ext cx="5577840" cy="4023360"/>
          </a:xfrm>
          <a:prstGeom prst="roundRect">
            <a:avLst>
              <a:gd name="adj" fmla="val 5682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cope panel"/>
          <p:cNvSpPr/>
          <p:nvPr/>
        </p:nvSpPr>
        <p:spPr>
          <a:xfrm>
            <a:off x="6263640" y="2377440"/>
            <a:ext cx="5468112" cy="4023360"/>
          </a:xfrm>
          <a:prstGeom prst="roundRect">
            <a:avLst>
              <a:gd name="adj" fmla="val 5682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5603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Objectives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2560320"/>
            <a:ext cx="5102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Environment &amp; Demo Scope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06324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IN" sz="1600" dirty="0"/>
              <a:t>Understand how a </a:t>
            </a:r>
            <a:r>
              <a:rPr lang="en-IN" sz="1600" dirty="0" err="1"/>
              <a:t>lexer</a:t>
            </a:r>
            <a:r>
              <a:rPr lang="en-IN" sz="1600" dirty="0"/>
              <a:t> identifies tokens in source code.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IN" sz="1600" dirty="0"/>
              <a:t>Write Lex/Flex rules to recognize keywords, identifiers, operators and constants.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IN" sz="1600" dirty="0"/>
              <a:t>Run our scanner on a sample input and examine its output.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IN" sz="1600" dirty="0"/>
              <a:t> Demonstrate identifier-length error detection and symbol-table generation.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6492240" y="306324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Scanner Generator: </a:t>
            </a:r>
            <a:r>
              <a:rPr lang="en-US" sz="1500" dirty="0">
                <a:solidFill>
                  <a:schemeClr val="tx2"/>
                </a:solidFill>
              </a:rPr>
              <a:t>Flex (Lex-compatible)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Compiler: </a:t>
            </a:r>
            <a:r>
              <a:rPr lang="en-US" sz="1500" dirty="0">
                <a:solidFill>
                  <a:schemeClr val="tx2"/>
                </a:solidFill>
              </a:rPr>
              <a:t>GCC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Input: </a:t>
            </a:r>
            <a:r>
              <a:rPr lang="en-US" sz="1500" dirty="0">
                <a:solidFill>
                  <a:schemeClr val="tx2"/>
                </a:solidFill>
              </a:rPr>
              <a:t>C-style source code read from input.cpp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Output: </a:t>
            </a:r>
            <a:r>
              <a:rPr lang="en-US" sz="1500" dirty="0">
                <a:solidFill>
                  <a:schemeClr val="tx2"/>
                </a:solidFill>
              </a:rPr>
              <a:t>Token classification, lexical error reporting and an identifier symbol table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Scope: </a:t>
            </a:r>
            <a:r>
              <a:rPr lang="en-US" sz="1500" dirty="0">
                <a:solidFill>
                  <a:schemeClr val="tx2"/>
                </a:solidFill>
              </a:rPr>
              <a:t>Demonstrates a limited subset of C/C++ syntax; it is not a complete C++ compiler.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731520" y="566928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Where Lexical Analysis Fits in a Compiler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783080"/>
            <a:ext cx="3017520" cy="868680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83080"/>
            <a:ext cx="30175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Source Code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(character stream)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617720" y="1783080"/>
            <a:ext cx="3017520" cy="868680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17720" y="1783080"/>
            <a:ext cx="30175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Lexical Analyzer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(scanner)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503920" y="1783080"/>
            <a:ext cx="2953512" cy="868680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03920" y="1783080"/>
            <a:ext cx="2953512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Syntax Analyzer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(parser)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0" y="2057400"/>
            <a:ext cx="685800" cy="32004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2057400"/>
            <a:ext cx="685800" cy="32004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35240" y="17556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tx2"/>
                </a:solidFill>
              </a:rPr>
              <a:t>tokens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2651760"/>
            <a:ext cx="0" cy="256032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966960" y="2651760"/>
            <a:ext cx="0" cy="256032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394960" y="2907792"/>
            <a:ext cx="5303520" cy="502920"/>
          </a:xfrm>
          <a:prstGeom prst="roundRect">
            <a:avLst>
              <a:gd name="adj" fmla="val 21818"/>
            </a:avLst>
          </a:prstGeom>
          <a:solidFill>
            <a:srgbClr val="E6F4F1"/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5394960" y="2907792"/>
            <a:ext cx="53035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Symbol Table: supporting structure used by relevant phases</a:t>
            </a:r>
            <a:endParaRPr lang="en-US" sz="1200" dirty="0"/>
          </a:p>
        </p:txBody>
      </p:sp>
      <p:sp>
        <p:nvSpPr>
          <p:cNvPr id="16" name="Panel"/>
          <p:cNvSpPr/>
          <p:nvPr/>
        </p:nvSpPr>
        <p:spPr>
          <a:xfrm>
            <a:off x="731520" y="3657600"/>
            <a:ext cx="3447288" cy="274320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767328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Input: Source Code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251960"/>
            <a:ext cx="30175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/>
              <a:t>A program is read as a sequence of characters.</a:t>
            </a: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/>
              <a:t>The stream contains identifiers, keywords, constants, operators, punctuation and possibly whitespace or comments.</a:t>
            </a:r>
          </a:p>
        </p:txBody>
      </p:sp>
      <p:sp>
        <p:nvSpPr>
          <p:cNvPr id="19" name="Panel"/>
          <p:cNvSpPr/>
          <p:nvPr/>
        </p:nvSpPr>
        <p:spPr>
          <a:xfrm>
            <a:off x="4361688" y="3657600"/>
            <a:ext cx="3447288" cy="274320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98848" y="3767328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Lexical Analyzer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90288" y="4251960"/>
            <a:ext cx="30175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/>
              <a:t>Examines characters and groups them into lexemes.</a:t>
            </a: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/>
              <a:t>Classifies recognised lexemes into token categories using defined patterns.</a:t>
            </a: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/>
              <a:t>Ignores whitespace where specified by the scanner rules.</a:t>
            </a:r>
          </a:p>
        </p:txBody>
      </p:sp>
      <p:sp>
        <p:nvSpPr>
          <p:cNvPr id="22" name="Panel"/>
          <p:cNvSpPr/>
          <p:nvPr/>
        </p:nvSpPr>
        <p:spPr>
          <a:xfrm>
            <a:off x="7991856" y="3657600"/>
            <a:ext cx="3447288" cy="2743200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29016" y="3767328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Output and Next Phase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220456" y="4251960"/>
            <a:ext cx="30175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/>
              <a:t>Produces a sequence of tokens for the syntax analyzer.</a:t>
            </a: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/>
              <a:t>The syntax analyzer checks whether the token sequence follows grammatical rules.</a:t>
            </a: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/>
              <a:t>A symbol table stores identifier information for use by relevant compiler phases.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731520" y="566928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From Character Streams to Tokens</a:t>
            </a:r>
            <a:endParaRPr lang="en-US" sz="2200" dirty="0"/>
          </a:p>
        </p:txBody>
      </p:sp>
      <p:sp>
        <p:nvSpPr>
          <p:cNvPr id="3" name="Panel"/>
          <p:cNvSpPr/>
          <p:nvPr/>
        </p:nvSpPr>
        <p:spPr>
          <a:xfrm>
            <a:off x="731520" y="1783080"/>
            <a:ext cx="3154680" cy="4572000"/>
          </a:xfrm>
          <a:prstGeom prst="roundRect">
            <a:avLst>
              <a:gd name="adj" fmla="val 7246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9202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Input</a:t>
            </a:r>
            <a:endParaRPr lang="en-US" sz="1600" dirty="0"/>
          </a:p>
        </p:txBody>
      </p:sp>
      <p:sp>
        <p:nvSpPr>
          <p:cNvPr id="5" name="Panel"/>
          <p:cNvSpPr/>
          <p:nvPr/>
        </p:nvSpPr>
        <p:spPr>
          <a:xfrm>
            <a:off x="4069080" y="1783080"/>
            <a:ext cx="3154680" cy="4572000"/>
          </a:xfrm>
          <a:prstGeom prst="roundRect">
            <a:avLst>
              <a:gd name="adj" fmla="val 7246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06240" y="19202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</a:t>
            </a:r>
            <a:r>
              <a:rPr lang="en-US" sz="16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What the </a:t>
            </a:r>
            <a:r>
              <a:rPr lang="en-US" sz="1600" b="1" dirty="0" err="1">
                <a:latin typeface="Georgia" pitchFamily="34" charset="0"/>
                <a:ea typeface="Georgia" pitchFamily="34" charset="-122"/>
                <a:cs typeface="Georgia" pitchFamily="34" charset="-120"/>
              </a:rPr>
              <a:t>lexer</a:t>
            </a:r>
            <a:r>
              <a:rPr lang="en-US" sz="16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 does</a:t>
            </a:r>
            <a:endParaRPr lang="en-US" sz="1600" dirty="0"/>
          </a:p>
        </p:txBody>
      </p:sp>
      <p:sp>
        <p:nvSpPr>
          <p:cNvPr id="7" name="Panel"/>
          <p:cNvSpPr/>
          <p:nvPr/>
        </p:nvSpPr>
        <p:spPr>
          <a:xfrm>
            <a:off x="7406640" y="1783080"/>
            <a:ext cx="4050792" cy="4572000"/>
          </a:xfrm>
          <a:prstGeom prst="roundRect">
            <a:avLst>
              <a:gd name="adj" fmla="val 5643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43800" y="1920240"/>
            <a:ext cx="3776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Exampl</a:t>
            </a:r>
            <a:r>
              <a:rPr lang="en-US" sz="16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e </a:t>
            </a:r>
            <a:r>
              <a:rPr lang="en-US" sz="1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4688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/>
              <a:t>Raw source-code characters read from a file.</a:t>
            </a:r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/>
              <a:t>Includes meaningful lexemes and characters such as whitespace.</a:t>
            </a:r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/>
              <a:t>Example: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960120" y="4480560"/>
            <a:ext cx="2697480" cy="502920"/>
          </a:xfrm>
          <a:prstGeom prst="rect">
            <a:avLst/>
          </a:prstGeom>
          <a:solidFill>
            <a:srgbClr val="EEF2F1"/>
          </a:solidFill>
          <a:ln/>
        </p:spPr>
        <p:txBody>
          <a:bodyPr wrap="square" lIns="76200" tIns="101600" rIns="101600" bIns="762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count + 50;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468880"/>
            <a:ext cx="2743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/>
              <a:t>Recognises character sequences that match defined patterns.</a:t>
            </a:r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/>
              <a:t>Groups characters into lexemes.</a:t>
            </a:r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/>
              <a:t>Classifies each recognised lexeme into a token category.</a:t>
            </a:r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/>
              <a:t>Applies the rules specified in the scanner.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7635240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Illustrative token sequence: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2788920"/>
            <a:ext cx="3566160" cy="1828800"/>
          </a:xfrm>
          <a:prstGeom prst="rect">
            <a:avLst/>
          </a:prstGeom>
          <a:solidFill>
            <a:srgbClr val="EEF2F1"/>
          </a:solidFill>
          <a:ln/>
        </p:spPr>
        <p:txBody>
          <a:bodyPr wrap="square" lIns="76200" tIns="101600" rIns="101600" bIns="7620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IDENTIFIER(a) →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ASSIGN(=) →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IDENTIFIER(count) →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PLUS(+) →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INTEGER(50) →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SEMICOLON(;)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48463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200" dirty="0"/>
              <a:t>Example token sequence for illustration; actual output depends on our Lex rules.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731520" y="566928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Understanding the Building Blocks of Lexical Analysis</a:t>
            </a:r>
            <a:endParaRPr lang="en-US" sz="2200" dirty="0"/>
          </a:p>
        </p:txBody>
      </p:sp>
      <p:sp>
        <p:nvSpPr>
          <p:cNvPr id="3" name="Panel"/>
          <p:cNvSpPr/>
          <p:nvPr/>
        </p:nvSpPr>
        <p:spPr>
          <a:xfrm>
            <a:off x="731520" y="1737360"/>
            <a:ext cx="2532888" cy="1691640"/>
          </a:xfrm>
          <a:prstGeom prst="roundRect">
            <a:avLst>
              <a:gd name="adj" fmla="val 13514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1051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2194560"/>
            <a:ext cx="2203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/>
              <a:t>An abstract category assigned to a recognised lexeme, such as KEYWORD, IDENTIFIER or INTEGER_CONSTANT.</a:t>
            </a:r>
          </a:p>
        </p:txBody>
      </p:sp>
      <p:sp>
        <p:nvSpPr>
          <p:cNvPr id="6" name="Panel"/>
          <p:cNvSpPr/>
          <p:nvPr/>
        </p:nvSpPr>
        <p:spPr>
          <a:xfrm>
            <a:off x="3447288" y="1737360"/>
            <a:ext cx="2532888" cy="1691640"/>
          </a:xfrm>
          <a:prstGeom prst="roundRect">
            <a:avLst>
              <a:gd name="adj" fmla="val 13514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38728" y="181051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Lexeme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2194560"/>
            <a:ext cx="2203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/>
              <a:t>The actual character sequence found in the source code, such as int, count or 10.</a:t>
            </a:r>
          </a:p>
        </p:txBody>
      </p:sp>
      <p:sp>
        <p:nvSpPr>
          <p:cNvPr id="9" name="Panel"/>
          <p:cNvSpPr/>
          <p:nvPr/>
        </p:nvSpPr>
        <p:spPr>
          <a:xfrm>
            <a:off x="6163056" y="1737360"/>
            <a:ext cx="2532888" cy="1691640"/>
          </a:xfrm>
          <a:prstGeom prst="roundRect">
            <a:avLst>
              <a:gd name="adj" fmla="val 13514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54496" y="181051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27648" y="2194560"/>
            <a:ext cx="2203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/>
              <a:t>A rule describing which character sequences belong to a token category.</a:t>
            </a:r>
          </a:p>
        </p:txBody>
      </p:sp>
      <p:sp>
        <p:nvSpPr>
          <p:cNvPr id="12" name="Panel"/>
          <p:cNvSpPr/>
          <p:nvPr/>
        </p:nvSpPr>
        <p:spPr>
          <a:xfrm>
            <a:off x="8878824" y="1737360"/>
            <a:ext cx="2532888" cy="1691640"/>
          </a:xfrm>
          <a:prstGeom prst="roundRect">
            <a:avLst>
              <a:gd name="adj" fmla="val 13514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70264" y="181051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Attribute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043416" y="2194560"/>
            <a:ext cx="2203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/>
              <a:t>Optional information associated with a token, such as a numeric value or a symbol-table reference.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73152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</a:t>
            </a: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count = 10;</a:t>
            </a:r>
            <a:endParaRPr lang="en-US" sz="1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695917"/>
              </p:ext>
            </p:extLst>
          </p:nvPr>
        </p:nvGraphicFramePr>
        <p:xfrm>
          <a:off x="731520" y="4023360"/>
          <a:ext cx="10725912" cy="215798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1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Lexeme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Token category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Explanation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Keyword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A language keyword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Identifier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A name used in the program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Operator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Assignment operator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Integer constant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An integer literal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Delimiter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Terminates the declaration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731520" y="61722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731520" y="566928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Regular Expressions Describe Patterns; Finite Automata Recognise Them</a:t>
            </a:r>
            <a:endParaRPr lang="en-US" sz="2200" dirty="0"/>
          </a:p>
        </p:txBody>
      </p:sp>
      <p:sp>
        <p:nvSpPr>
          <p:cNvPr id="3" name="Panel"/>
          <p:cNvSpPr/>
          <p:nvPr/>
        </p:nvSpPr>
        <p:spPr>
          <a:xfrm>
            <a:off x="731520" y="1691640"/>
            <a:ext cx="4023360" cy="3611880"/>
          </a:xfrm>
          <a:prstGeom prst="roundRect">
            <a:avLst>
              <a:gd name="adj" fmla="val 632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914400" y="18105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Regular Expressions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28600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/>
              <a:t>A notation for describing sets of strings.</a:t>
            </a: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/>
              <a:t>Used in Lex/Flex rules to describe patterns such as identifiers and integers.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960120" y="37490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Illustrative patterns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041648"/>
            <a:ext cx="3657600" cy="777240"/>
          </a:xfrm>
          <a:prstGeom prst="rect">
            <a:avLst/>
          </a:prstGeom>
          <a:solidFill>
            <a:srgbClr val="EEF2F1"/>
          </a:solidFill>
          <a:ln/>
        </p:spPr>
        <p:txBody>
          <a:bodyPr wrap="square" lIns="76200" tIns="101600" rIns="101600" bIns="7620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Integer:     [0-9]+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Identifier:  [A-Za-z_][A-Za-z0-9_]*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846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Identifiers may begin with a letter or underscore.</a:t>
            </a:r>
            <a:endParaRPr lang="en-US" sz="1200" dirty="0"/>
          </a:p>
        </p:txBody>
      </p:sp>
      <p:sp>
        <p:nvSpPr>
          <p:cNvPr id="9" name="Panel"/>
          <p:cNvSpPr/>
          <p:nvPr/>
        </p:nvSpPr>
        <p:spPr>
          <a:xfrm>
            <a:off x="4937760" y="1691640"/>
            <a:ext cx="6519672" cy="3611880"/>
          </a:xfrm>
          <a:prstGeom prst="roundRect">
            <a:avLst>
              <a:gd name="adj" fmla="val 632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5120640" y="1810512"/>
            <a:ext cx="6153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Finite Automata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228600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/>
              <a:t>A finite automaton processes an input string through states and transitions.</a:t>
            </a: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/>
              <a:t>A DFA has one defined next state for each state and input symbol.</a:t>
            </a: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/>
              <a:t>Accepting states indicate that the consumed input matches the recognised pattern.</a:t>
            </a:r>
          </a:p>
        </p:txBody>
      </p:sp>
      <p:pic>
        <p:nvPicPr>
          <p:cNvPr id="12" name="Image 0" descr="Illustrative identifier DFA: S0 to accepting S1 on a letter; S1 loops on letters and digi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331720"/>
            <a:ext cx="3429000" cy="230428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863840" y="46634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chemeClr val="tx2"/>
                </a:solidFill>
              </a:rPr>
              <a:t>Illustrative identifier recogniser, not a screenshot of Flex’s internal implementation.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5440680"/>
            <a:ext cx="10725912" cy="640080"/>
          </a:xfrm>
          <a:prstGeom prst="roundRect">
            <a:avLst>
              <a:gd name="adj" fmla="val 21429"/>
            </a:avLst>
          </a:prstGeom>
          <a:solidFill>
            <a:srgbClr val="E6F4F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914400" y="544068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/>
              <a:t>Exercise-specific rule: </a:t>
            </a:r>
            <a:r>
              <a:rPr lang="en-US" sz="1300" dirty="0"/>
              <a:t>our practical additionally flags identifiers longer than eight characters. This length restriction belongs to this exercise and is not a universal C/C++ rule.</a:t>
            </a:r>
          </a:p>
        </p:txBody>
      </p:sp>
      <p:sp>
        <p:nvSpPr>
          <p:cNvPr id="16" name="Text 13"/>
          <p:cNvSpPr txBox="1"/>
          <p:nvPr/>
        </p:nvSpPr>
        <p:spPr>
          <a:xfrm>
            <a:off x="731520" y="621792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chemeClr val="tx2"/>
                </a:solidFill>
              </a:rPr>
              <a:t>Mishra &amp; Chandrasekaran, Chapter 3, 3.2, p. 73; Chapter 5, 5.1–5.2, pp. 136–140.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731520" y="566928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From a Flex Specification to an Executable Scanner</a:t>
            </a:r>
            <a:endParaRPr lang="en-US" sz="2200" dirty="0"/>
          </a:p>
        </p:txBody>
      </p:sp>
      <p:sp>
        <p:nvSpPr>
          <p:cNvPr id="3" name="Panel"/>
          <p:cNvSpPr/>
          <p:nvPr/>
        </p:nvSpPr>
        <p:spPr>
          <a:xfrm>
            <a:off x="731520" y="1691640"/>
            <a:ext cx="3447288" cy="251460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Definitions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240280"/>
            <a:ext cx="3017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Header files, declarations and optional named patterns.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Code between %{ and %} is copied into the generated scanner.</a:t>
            </a:r>
            <a:endParaRPr lang="en-US" sz="1500" dirty="0"/>
          </a:p>
        </p:txBody>
      </p:sp>
      <p:sp>
        <p:nvSpPr>
          <p:cNvPr id="6" name="Panel"/>
          <p:cNvSpPr/>
          <p:nvPr/>
        </p:nvSpPr>
        <p:spPr>
          <a:xfrm>
            <a:off x="4361688" y="1691640"/>
            <a:ext cx="3447288" cy="251460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98848" y="1783080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Rules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90288" y="2240280"/>
            <a:ext cx="3017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Rules contain patterns followed by actions; a matching pattern runs its action.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Flex selects the longest match; if two rules match equally long text, the earlier rule wins.</a:t>
            </a:r>
            <a:endParaRPr lang="en-US" sz="1500" dirty="0"/>
          </a:p>
        </p:txBody>
      </p:sp>
      <p:sp>
        <p:nvSpPr>
          <p:cNvPr id="9" name="Panel"/>
          <p:cNvSpPr/>
          <p:nvPr/>
        </p:nvSpPr>
        <p:spPr>
          <a:xfrm>
            <a:off x="7991856" y="1691640"/>
            <a:ext cx="3447288" cy="251460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29016" y="1783080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User Subroutines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0456" y="2240280"/>
            <a:ext cx="3017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Supporting C functions, such as a symbol-table helper.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main() may open the input file and call yylex().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05840" y="4389120"/>
            <a:ext cx="2011680" cy="502920"/>
          </a:xfrm>
          <a:prstGeom prst="roundRect">
            <a:avLst>
              <a:gd name="adj" fmla="val 21818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389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cpp_lexer.l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090672" y="4507992"/>
            <a:ext cx="45720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21024" y="4389120"/>
            <a:ext cx="109728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21024" y="43891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flex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91456" y="4507992"/>
            <a:ext cx="45720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21808" y="4389120"/>
            <a:ext cx="2011680" cy="502920"/>
          </a:xfrm>
          <a:prstGeom prst="roundRect">
            <a:avLst>
              <a:gd name="adj" fmla="val 21818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21808" y="4389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lex.yy.c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06640" y="4507992"/>
            <a:ext cx="45720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36992" y="4389120"/>
            <a:ext cx="109728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36992" y="43891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gcc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07424" y="4507992"/>
            <a:ext cx="45720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37776" y="4389120"/>
            <a:ext cx="2011680" cy="502920"/>
          </a:xfrm>
          <a:prstGeom prst="roundRect">
            <a:avLst>
              <a:gd name="adj" fmla="val 21818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37776" y="4389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cpp_lexer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074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Build commands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349240"/>
            <a:ext cx="5120640" cy="1005840"/>
          </a:xfrm>
          <a:prstGeom prst="rect">
            <a:avLst/>
          </a:prstGeom>
          <a:solidFill>
            <a:srgbClr val="EEF2F1"/>
          </a:solidFill>
          <a:ln/>
        </p:spPr>
        <p:txBody>
          <a:bodyPr wrap="square" lIns="76200" tIns="101600" rIns="101600" bIns="762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 cpp_lexer.l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lex.yy.c -o cpp_lexer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./cpp_lexer input.cpp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126480" y="50749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Illustrative rule example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5349240"/>
            <a:ext cx="5330952" cy="1005840"/>
          </a:xfrm>
          <a:prstGeom prst="rect">
            <a:avLst/>
          </a:prstGeom>
          <a:solidFill>
            <a:srgbClr val="EEF2F1"/>
          </a:solidFill>
          <a:ln/>
        </p:spPr>
        <p:txBody>
          <a:bodyPr wrap="square" lIns="76200" tIns="101600" rIns="101600" bIns="762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"int"    { printf("Keyword\n"); }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[0-9]+   { printf("Integer\n"); }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%%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731520" y="566928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Implementing a Source-Code Lexer with Flex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31520" y="1645920"/>
            <a:ext cx="7223760" cy="1508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0F9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173736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B6F63"/>
                </a:solidFill>
              </a:rPr>
              <a:t>1. Token recognition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2084831"/>
            <a:ext cx="685800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dirty="0">
                <a:solidFill>
                  <a:srgbClr val="0F172A"/>
                </a:solidFill>
                <a:latin typeface="Courier New"/>
              </a:rPr>
              <a:t>"</a:t>
            </a:r>
            <a:r>
              <a:rPr sz="1400" b="1" dirty="0" err="1">
                <a:solidFill>
                  <a:srgbClr val="0F172A"/>
                </a:solidFill>
                <a:latin typeface="Courier New"/>
              </a:rPr>
              <a:t>auto"|"bool"|"break</a:t>
            </a:r>
            <a:r>
              <a:rPr sz="1400" b="1" dirty="0">
                <a:solidFill>
                  <a:srgbClr val="0F172A"/>
                </a:solidFill>
                <a:latin typeface="Courier New"/>
              </a:rPr>
              <a:t>"| ... |"</a:t>
            </a:r>
            <a:r>
              <a:rPr sz="1400" b="1" dirty="0" err="1">
                <a:solidFill>
                  <a:srgbClr val="0F172A"/>
                </a:solidFill>
                <a:latin typeface="Courier New"/>
              </a:rPr>
              <a:t>while"|"std</a:t>
            </a:r>
            <a:r>
              <a:rPr sz="1400" b="1" dirty="0">
                <a:solidFill>
                  <a:srgbClr val="0F172A"/>
                </a:solidFill>
                <a:latin typeface="Courier New"/>
              </a:rPr>
              <a:t>" {</a:t>
            </a:r>
          </a:p>
          <a:p>
            <a:r>
              <a:rPr sz="1400" b="1" dirty="0">
                <a:solidFill>
                  <a:srgbClr val="0F172A"/>
                </a:solidFill>
                <a:latin typeface="Courier New"/>
              </a:rPr>
              <a:t>    </a:t>
            </a:r>
            <a:r>
              <a:rPr sz="1400" b="1" dirty="0" err="1">
                <a:solidFill>
                  <a:srgbClr val="0F172A"/>
                </a:solidFill>
                <a:latin typeface="Courier New"/>
              </a:rPr>
              <a:t>print_token</a:t>
            </a:r>
            <a:r>
              <a:rPr sz="1400" b="1" dirty="0">
                <a:solidFill>
                  <a:srgbClr val="0F172A"/>
                </a:solidFill>
                <a:latin typeface="Courier New"/>
              </a:rPr>
              <a:t>(</a:t>
            </a:r>
            <a:r>
              <a:rPr sz="1400" b="1" dirty="0" err="1">
                <a:solidFill>
                  <a:srgbClr val="0F172A"/>
                </a:solidFill>
                <a:latin typeface="Courier New"/>
              </a:rPr>
              <a:t>yytext</a:t>
            </a:r>
            <a:r>
              <a:rPr sz="1400" b="1" dirty="0">
                <a:solidFill>
                  <a:srgbClr val="0F172A"/>
                </a:solidFill>
                <a:latin typeface="Courier New"/>
              </a:rPr>
              <a:t>, "Keyword");</a:t>
            </a:r>
          </a:p>
          <a:p>
            <a:r>
              <a:rPr sz="1400" b="1" dirty="0">
                <a:solidFill>
                  <a:srgbClr val="0F172A"/>
                </a:solidFill>
                <a:latin typeface="Courier New"/>
              </a:rPr>
              <a:t>}</a:t>
            </a:r>
          </a:p>
          <a:p>
            <a:r>
              <a:rPr sz="1400" b="1" dirty="0">
                <a:solidFill>
                  <a:srgbClr val="0F172A"/>
                </a:solidFill>
                <a:latin typeface="Courier New"/>
              </a:rPr>
              <a:t>{INTEGER}  { </a:t>
            </a:r>
            <a:r>
              <a:rPr sz="1400" b="1" dirty="0" err="1">
                <a:solidFill>
                  <a:srgbClr val="0F172A"/>
                </a:solidFill>
                <a:latin typeface="Courier New"/>
              </a:rPr>
              <a:t>print_token</a:t>
            </a:r>
            <a:r>
              <a:rPr sz="1400" b="1" dirty="0">
                <a:solidFill>
                  <a:srgbClr val="0F172A"/>
                </a:solidFill>
                <a:latin typeface="Courier New"/>
              </a:rPr>
              <a:t>(</a:t>
            </a:r>
            <a:r>
              <a:rPr sz="1400" b="1" dirty="0" err="1">
                <a:solidFill>
                  <a:srgbClr val="0F172A"/>
                </a:solidFill>
                <a:latin typeface="Courier New"/>
              </a:rPr>
              <a:t>yytext</a:t>
            </a:r>
            <a:r>
              <a:rPr sz="1400" b="1" dirty="0">
                <a:solidFill>
                  <a:srgbClr val="0F172A"/>
                </a:solidFill>
                <a:latin typeface="Courier New"/>
              </a:rPr>
              <a:t>, "Integer constant"); 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246120"/>
            <a:ext cx="722376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0F9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333756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B6F63"/>
                </a:solidFill>
              </a:rPr>
              <a:t>2. Identifier-length check (more than 8 characters)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685032"/>
            <a:ext cx="68580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 dirty="0">
                <a:solidFill>
                  <a:srgbClr val="0F172A"/>
                </a:solidFill>
                <a:latin typeface="Courier New"/>
              </a:rPr>
              <a:t>{IDENTIFIER} {</a:t>
            </a:r>
          </a:p>
          <a:p>
            <a:r>
              <a:rPr sz="1300" b="1" dirty="0">
                <a:solidFill>
                  <a:srgbClr val="0F172A"/>
                </a:solidFill>
                <a:latin typeface="Courier New"/>
              </a:rPr>
              <a:t>    if (</a:t>
            </a:r>
            <a:r>
              <a:rPr sz="1300" b="1" dirty="0" err="1">
                <a:solidFill>
                  <a:srgbClr val="0F172A"/>
                </a:solidFill>
                <a:latin typeface="Courier New"/>
              </a:rPr>
              <a:t>yyleng</a:t>
            </a:r>
            <a:r>
              <a:rPr sz="1300" b="1" dirty="0">
                <a:solidFill>
                  <a:srgbClr val="0F172A"/>
                </a:solidFill>
                <a:latin typeface="Courier New"/>
              </a:rPr>
              <a:t> &gt; 8) {</a:t>
            </a:r>
          </a:p>
          <a:p>
            <a:r>
              <a:rPr sz="1300" b="1" dirty="0">
                <a:solidFill>
                  <a:srgbClr val="0F172A"/>
                </a:solidFill>
                <a:latin typeface="Courier New"/>
              </a:rPr>
              <a:t>        </a:t>
            </a:r>
            <a:r>
              <a:rPr sz="1300" b="1" dirty="0" err="1">
                <a:solidFill>
                  <a:srgbClr val="0F172A"/>
                </a:solidFill>
                <a:latin typeface="Courier New"/>
              </a:rPr>
              <a:t>print_token</a:t>
            </a:r>
            <a:r>
              <a:rPr sz="1300" b="1" dirty="0">
                <a:solidFill>
                  <a:srgbClr val="0F172A"/>
                </a:solidFill>
                <a:latin typeface="Courier New"/>
              </a:rPr>
              <a:t>(</a:t>
            </a:r>
            <a:r>
              <a:rPr sz="1300" b="1" dirty="0" err="1">
                <a:solidFill>
                  <a:srgbClr val="0F172A"/>
                </a:solidFill>
                <a:latin typeface="Courier New"/>
              </a:rPr>
              <a:t>yytext</a:t>
            </a:r>
            <a:r>
              <a:rPr sz="1300" b="1" dirty="0">
                <a:solidFill>
                  <a:srgbClr val="0F172A"/>
                </a:solidFill>
                <a:latin typeface="Courier New"/>
              </a:rPr>
              <a:t>, "Lexical error: identifier &gt; 8 chars");</a:t>
            </a:r>
          </a:p>
          <a:p>
            <a:r>
              <a:rPr sz="1300" b="1" dirty="0">
                <a:solidFill>
                  <a:srgbClr val="0F172A"/>
                </a:solidFill>
                <a:latin typeface="Courier New"/>
              </a:rPr>
              <a:t>    } else {</a:t>
            </a:r>
          </a:p>
          <a:p>
            <a:r>
              <a:rPr sz="1300" b="1" dirty="0">
                <a:solidFill>
                  <a:srgbClr val="0F172A"/>
                </a:solidFill>
                <a:latin typeface="Courier New"/>
              </a:rPr>
              <a:t>        </a:t>
            </a:r>
            <a:r>
              <a:rPr sz="1300" b="1" dirty="0" err="1">
                <a:solidFill>
                  <a:srgbClr val="0F172A"/>
                </a:solidFill>
                <a:latin typeface="Courier New"/>
              </a:rPr>
              <a:t>print_token</a:t>
            </a:r>
            <a:r>
              <a:rPr sz="1300" b="1" dirty="0">
                <a:solidFill>
                  <a:srgbClr val="0F172A"/>
                </a:solidFill>
                <a:latin typeface="Courier New"/>
              </a:rPr>
              <a:t>(</a:t>
            </a:r>
            <a:r>
              <a:rPr sz="1300" b="1" dirty="0" err="1">
                <a:solidFill>
                  <a:srgbClr val="0F172A"/>
                </a:solidFill>
                <a:latin typeface="Courier New"/>
              </a:rPr>
              <a:t>yytext</a:t>
            </a:r>
            <a:r>
              <a:rPr sz="1300" b="1" dirty="0">
                <a:solidFill>
                  <a:srgbClr val="0F172A"/>
                </a:solidFill>
                <a:latin typeface="Courier New"/>
              </a:rPr>
              <a:t>, "Identifier");</a:t>
            </a:r>
          </a:p>
          <a:p>
            <a:r>
              <a:rPr sz="1300" b="1" dirty="0">
                <a:solidFill>
                  <a:srgbClr val="0F172A"/>
                </a:solidFill>
                <a:latin typeface="Courier New"/>
              </a:rPr>
              <a:t>        </a:t>
            </a:r>
            <a:r>
              <a:rPr sz="1300" b="1" dirty="0" err="1">
                <a:solidFill>
                  <a:srgbClr val="0F172A"/>
                </a:solidFill>
                <a:latin typeface="Courier New"/>
              </a:rPr>
              <a:t>add_symbol</a:t>
            </a:r>
            <a:r>
              <a:rPr sz="1300" b="1" dirty="0">
                <a:solidFill>
                  <a:srgbClr val="0F172A"/>
                </a:solidFill>
                <a:latin typeface="Courier New"/>
              </a:rPr>
              <a:t>(</a:t>
            </a:r>
            <a:r>
              <a:rPr sz="1300" b="1" dirty="0" err="1">
                <a:solidFill>
                  <a:srgbClr val="0F172A"/>
                </a:solidFill>
                <a:latin typeface="Courier New"/>
              </a:rPr>
              <a:t>yytext</a:t>
            </a:r>
            <a:r>
              <a:rPr sz="1300" b="1" dirty="0">
                <a:solidFill>
                  <a:srgbClr val="0F172A"/>
                </a:solidFill>
                <a:latin typeface="Courier New"/>
              </a:rPr>
              <a:t>);</a:t>
            </a:r>
          </a:p>
          <a:p>
            <a:r>
              <a:rPr sz="1300" b="1" dirty="0">
                <a:solidFill>
                  <a:srgbClr val="0F172A"/>
                </a:solidFill>
                <a:latin typeface="Courier New"/>
              </a:rPr>
              <a:t>    }</a:t>
            </a:r>
          </a:p>
          <a:p>
            <a:r>
              <a:rPr sz="1300" b="1" dirty="0">
                <a:solidFill>
                  <a:srgbClr val="0F172A"/>
                </a:solidFill>
                <a:latin typeface="Courier New"/>
              </a:rPr>
              <a:t>}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1645920"/>
            <a:ext cx="3319272" cy="37033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0F9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1040" y="17373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B6F63"/>
                </a:solidFill>
              </a:rPr>
              <a:t>3. Symbol table and 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103120"/>
            <a:ext cx="3017520" cy="2469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1" dirty="0" err="1">
                <a:solidFill>
                  <a:srgbClr val="0F172A"/>
                </a:solidFill>
              </a:rPr>
              <a:t>add_symbol</a:t>
            </a:r>
            <a:r>
              <a:rPr sz="1300" b="1" dirty="0">
                <a:solidFill>
                  <a:srgbClr val="0F172A"/>
                </a:solidFill>
              </a:rPr>
              <a:t>() </a:t>
            </a:r>
            <a:r>
              <a:rPr sz="1300" dirty="0">
                <a:solidFill>
                  <a:srgbClr val="475569"/>
                </a:solidFill>
              </a:rPr>
              <a:t>adds each valid identifier once; duplicates are skipped.</a:t>
            </a:r>
          </a:p>
          <a:p>
            <a:pPr>
              <a:spcAft>
                <a:spcPts val="700"/>
              </a:spcAft>
            </a:pPr>
            <a:r>
              <a:rPr sz="1300" b="1" dirty="0">
                <a:solidFill>
                  <a:srgbClr val="0F172A"/>
                </a:solidFill>
              </a:rPr>
              <a:t>Flagged: </a:t>
            </a:r>
            <a:r>
              <a:rPr sz="1300" dirty="0">
                <a:solidFill>
                  <a:srgbClr val="475569"/>
                </a:solidFill>
              </a:rPr>
              <a:t>identifiers over 8 characters are reported and not added.</a:t>
            </a:r>
          </a:p>
          <a:p>
            <a:pPr>
              <a:spcAft>
                <a:spcPts val="700"/>
              </a:spcAft>
            </a:pPr>
            <a:r>
              <a:rPr sz="1300" b="1" dirty="0">
                <a:solidFill>
                  <a:srgbClr val="0F172A"/>
                </a:solidFill>
              </a:rPr>
              <a:t>Table: </a:t>
            </a:r>
            <a:r>
              <a:rPr sz="1300" dirty="0">
                <a:solidFill>
                  <a:srgbClr val="475569"/>
                </a:solidFill>
              </a:rPr>
              <a:t>Name, Type and Value; Value is “-” (no runtime values).</a:t>
            </a:r>
          </a:p>
          <a:p>
            <a:pPr>
              <a:spcAft>
                <a:spcPts val="700"/>
              </a:spcAft>
            </a:pPr>
            <a:r>
              <a:rPr sz="1300" b="1" dirty="0">
                <a:solidFill>
                  <a:srgbClr val="0F172A"/>
                </a:solidFill>
              </a:rPr>
              <a:t>main(): </a:t>
            </a:r>
            <a:r>
              <a:rPr sz="1300" dirty="0">
                <a:solidFill>
                  <a:srgbClr val="475569"/>
                </a:solidFill>
              </a:rPr>
              <a:t>opens the input file, calls </a:t>
            </a:r>
            <a:r>
              <a:rPr sz="1300" dirty="0" err="1">
                <a:solidFill>
                  <a:srgbClr val="475569"/>
                </a:solidFill>
              </a:rPr>
              <a:t>yylex</a:t>
            </a:r>
            <a:r>
              <a:rPr sz="1300" dirty="0">
                <a:solidFill>
                  <a:srgbClr val="475569"/>
                </a:solidFill>
              </a:rPr>
              <a:t>(), then prints the symbol table.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486400"/>
            <a:ext cx="5285232" cy="896112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 w="12700">
            <a:solidFill>
              <a:srgbClr val="0F9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6112" y="5559552"/>
            <a:ext cx="4956048" cy="9156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dirty="0">
                <a:solidFill>
                  <a:srgbClr val="0F172A"/>
                </a:solidFill>
              </a:rPr>
              <a:t>Scope:</a:t>
            </a:r>
            <a:r>
              <a:rPr lang="en-IN" sz="1200" dirty="0"/>
              <a:t>This is a basic </a:t>
            </a:r>
            <a:r>
              <a:rPr lang="en-IN" sz="1200" dirty="0" err="1"/>
              <a:t>lexer</a:t>
            </a:r>
            <a:r>
              <a:rPr lang="en-IN" sz="1200" dirty="0"/>
              <a:t> for selected C-style tokens, not a complete C++ </a:t>
            </a:r>
            <a:r>
              <a:rPr lang="en-IN" sz="1200" dirty="0" err="1"/>
              <a:t>lexer</a:t>
            </a:r>
            <a:r>
              <a:rPr lang="en-IN" sz="1200" dirty="0"/>
              <a:t>. It does not check grammar or variable declarations. The eight-character identifier limit is a rule for this exercise.</a:t>
            </a:r>
          </a:p>
          <a:p>
            <a:endParaRPr sz="1150" dirty="0">
              <a:solidFill>
                <a:srgbClr val="475569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172200" y="5486400"/>
            <a:ext cx="5285232" cy="896112"/>
          </a:xfrm>
          <a:prstGeom prst="roundRect">
            <a:avLst>
              <a:gd name="adj" fmla="val 7000"/>
            </a:avLst>
          </a:prstGeom>
          <a:solidFill>
            <a:srgbClr val="E6F4F1"/>
          </a:solidFill>
          <a:ln w="12700">
            <a:solidFill>
              <a:srgbClr val="0F9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36792" y="5559552"/>
            <a:ext cx="4956048" cy="7309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dirty="0">
                <a:solidFill>
                  <a:srgbClr val="0F172A"/>
                </a:solidFill>
              </a:rPr>
              <a:t>Known limitation:</a:t>
            </a:r>
            <a:r>
              <a:rPr lang="en-IN" sz="1200" dirty="0"/>
              <a:t>Our keyword list includes “std”, although it is not a C++ keyword. Since “std” does not appear in our sample input, it does not affect the demonstrated output.</a:t>
            </a:r>
          </a:p>
          <a:p>
            <a:endParaRPr sz="1150" dirty="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731520" y="566928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Lexer Execution: Token Output</a:t>
            </a:r>
            <a:endParaRPr lang="en-US" sz="2200" dirty="0"/>
          </a:p>
        </p:txBody>
      </p:sp>
      <p:sp>
        <p:nvSpPr>
          <p:cNvPr id="3" name="Panel"/>
          <p:cNvSpPr/>
          <p:nvPr/>
        </p:nvSpPr>
        <p:spPr>
          <a:xfrm>
            <a:off x="731520" y="1691640"/>
            <a:ext cx="3749040" cy="4663440"/>
          </a:xfrm>
          <a:prstGeom prst="roundRect">
            <a:avLst>
              <a:gd name="adj" fmla="val 6098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Commands and Input File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3383280" cy="868680"/>
          </a:xfrm>
          <a:prstGeom prst="rect">
            <a:avLst/>
          </a:prstGeom>
          <a:solidFill>
            <a:srgbClr val="EEF2F1"/>
          </a:solidFill>
          <a:ln/>
        </p:spPr>
        <p:txBody>
          <a:bodyPr wrap="square" lIns="76200" tIns="101600" rIns="101600" bIns="762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 </a:t>
            </a:r>
            <a:r>
              <a:rPr lang="en-US" sz="1500" dirty="0" err="1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cpp_lexer.l</a:t>
            </a:r>
            <a:endParaRPr lang="en-US" sz="1500" dirty="0"/>
          </a:p>
          <a:p>
            <a:pPr marL="0" indent="0">
              <a:buNone/>
            </a:pPr>
            <a:r>
              <a:rPr lang="en-US" sz="1500" dirty="0" err="1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 err="1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lex.yy.c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-o </a:t>
            </a:r>
            <a:r>
              <a:rPr lang="en-US" sz="1500" dirty="0" err="1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cpp_lexer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</a:t>
            </a:r>
            <a:r>
              <a:rPr lang="en-US" sz="1500" dirty="0" err="1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cpp_lexer</a:t>
            </a: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input.cpp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91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input.cpp (as supplied)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611880"/>
            <a:ext cx="3383280" cy="2341880"/>
          </a:xfrm>
          <a:prstGeom prst="rect">
            <a:avLst/>
          </a:prstGeom>
          <a:solidFill>
            <a:srgbClr val="EEF2F1"/>
          </a:solidFill>
          <a:ln/>
        </p:spPr>
        <p:txBody>
          <a:bodyPr wrap="square" lIns="76200" tIns="101600" rIns="101600" bIns="7620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a, b;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bilateral;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= 3;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= a + 5;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1691640"/>
            <a:ext cx="4526280" cy="4663440"/>
          </a:xfrm>
          <a:prstGeom prst="roundRect">
            <a:avLst>
              <a:gd name="adj" fmla="val 2020"/>
            </a:avLst>
          </a:prstGeom>
          <a:solidFill>
            <a:srgbClr val="1E1E1E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Token output from the lexer ru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737360"/>
            <a:ext cx="4434840" cy="4526754"/>
          </a:xfrm>
          <a:prstGeom prst="rect">
            <a:avLst/>
          </a:prstGeom>
        </p:spPr>
      </p:pic>
      <p:sp>
        <p:nvSpPr>
          <p:cNvPr id="10" name="Panel"/>
          <p:cNvSpPr/>
          <p:nvPr/>
        </p:nvSpPr>
        <p:spPr>
          <a:xfrm>
            <a:off x="9372600" y="1691640"/>
            <a:ext cx="2084832" cy="4663440"/>
          </a:xfrm>
          <a:prstGeom prst="roundRect">
            <a:avLst>
              <a:gd name="adj" fmla="val 10965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418320" y="1783080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Observed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509760" y="2286000"/>
            <a:ext cx="1828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Keywords: </a:t>
            </a:r>
            <a:r>
              <a:rPr lang="en-US" sz="1300" dirty="0">
                <a:solidFill>
                  <a:schemeClr val="tx2"/>
                </a:solidFill>
              </a:rPr>
              <a:t>int, char, return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Identifiers: </a:t>
            </a:r>
            <a:r>
              <a:rPr lang="en-US" sz="1300" dirty="0">
                <a:solidFill>
                  <a:schemeClr val="tx2"/>
                </a:solidFill>
              </a:rPr>
              <a:t>main, a, b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Integer constants: </a:t>
            </a:r>
            <a:r>
              <a:rPr lang="en-US" sz="1300" dirty="0">
                <a:solidFill>
                  <a:schemeClr val="tx2"/>
                </a:solidFill>
              </a:rPr>
              <a:t>3, 5, 0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Operators: </a:t>
            </a:r>
            <a:r>
              <a:rPr lang="en-US" sz="1300" dirty="0">
                <a:solidFill>
                  <a:schemeClr val="tx2"/>
                </a:solidFill>
              </a:rPr>
              <a:t>=, +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Flagged: </a:t>
            </a:r>
            <a:r>
              <a:rPr lang="en-US" sz="1300" dirty="0">
                <a:solidFill>
                  <a:schemeClr val="tx2"/>
                </a:solidFill>
              </a:rPr>
              <a:t>bilateral exceeds the eight-character limit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731520" y="566928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Lexer Execution: Identifier Symbol Table</a:t>
            </a:r>
            <a:endParaRPr lang="en-US" sz="2200" dirty="0"/>
          </a:p>
        </p:txBody>
      </p:sp>
      <p:sp>
        <p:nvSpPr>
          <p:cNvPr id="3" name="Panel"/>
          <p:cNvSpPr/>
          <p:nvPr/>
        </p:nvSpPr>
        <p:spPr>
          <a:xfrm>
            <a:off x="731520" y="1691640"/>
            <a:ext cx="6766560" cy="2377440"/>
          </a:xfrm>
          <a:prstGeom prst="roundRect">
            <a:avLst>
              <a:gd name="adj" fmla="val 9615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 Table Output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60120" y="2377440"/>
            <a:ext cx="6309360" cy="126187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pic>
        <p:nvPicPr>
          <p:cNvPr id="6" name="Image 0" descr="Identifier symbol table output: main, a, 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377440"/>
            <a:ext cx="6309360" cy="1261872"/>
          </a:xfrm>
          <a:prstGeom prst="rect">
            <a:avLst/>
          </a:prstGeom>
        </p:spPr>
      </p:pic>
      <p:sp>
        <p:nvSpPr>
          <p:cNvPr id="7" name="Panel"/>
          <p:cNvSpPr/>
          <p:nvPr/>
        </p:nvSpPr>
        <p:spPr>
          <a:xfrm>
            <a:off x="7680960" y="1691640"/>
            <a:ext cx="3776472" cy="2377440"/>
          </a:xfrm>
          <a:prstGeom prst="roundRect">
            <a:avLst>
              <a:gd name="adj" fmla="val 9615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783080"/>
            <a:ext cx="3593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the Table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228600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Entries: </a:t>
            </a:r>
            <a:r>
              <a:rPr lang="en-US" sz="1400" dirty="0">
                <a:solidFill>
                  <a:schemeClr val="tx2"/>
                </a:solidFill>
              </a:rPr>
              <a:t>main, a and b, each recorded once.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Excluded: </a:t>
            </a:r>
            <a:r>
              <a:rPr lang="en-US" sz="1400" dirty="0">
                <a:solidFill>
                  <a:schemeClr val="tx2"/>
                </a:solidFill>
              </a:rPr>
              <a:t>bilateral, because it was flagged as a lexical error.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Value column (-): </a:t>
            </a:r>
            <a:r>
              <a:rPr lang="en-US" sz="1400" dirty="0">
                <a:solidFill>
                  <a:schemeClr val="tx2"/>
                </a:solidFill>
              </a:rPr>
              <a:t>this implementation does not store runtime values.</a:t>
            </a:r>
            <a:endParaRPr lang="en-US" sz="1400" dirty="0"/>
          </a:p>
        </p:txBody>
      </p:sp>
      <p:sp>
        <p:nvSpPr>
          <p:cNvPr id="10" name="Panel"/>
          <p:cNvSpPr/>
          <p:nvPr/>
        </p:nvSpPr>
        <p:spPr>
          <a:xfrm>
            <a:off x="731520" y="4251960"/>
            <a:ext cx="10725912" cy="2103120"/>
          </a:xfrm>
          <a:prstGeom prst="roundRect">
            <a:avLst>
              <a:gd name="adj" fmla="val 1087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86968" y="425196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Run Shows, and What It Does Not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4846320"/>
            <a:ext cx="9966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Shows: </a:t>
            </a:r>
            <a:r>
              <a:rPr lang="en-US" sz="1500" dirty="0">
                <a:solidFill>
                  <a:schemeClr val="tx2"/>
                </a:solidFill>
              </a:rPr>
              <a:t>token classification of a C-style input, detection of the exercise-specific identifier-length error, and an identifier symbol table.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Does not show: </a:t>
            </a:r>
            <a:r>
              <a:rPr lang="en-US" sz="1500" dirty="0">
                <a:solidFill>
                  <a:schemeClr val="tx2"/>
                </a:solidFill>
              </a:rPr>
              <a:t>statement grammar validation or checking whether identifiers are declared; those need later compiler phases.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731520" y="566928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chemeClr val="tx1"/>
                </a:solidFill>
              </a:rPr>
              <a:t>Conclusion and References</a:t>
            </a:r>
            <a:endParaRPr lang="en-US" sz="2200" dirty="0"/>
          </a:p>
        </p:txBody>
      </p:sp>
      <p:sp>
        <p:nvSpPr>
          <p:cNvPr id="3" name="Panel"/>
          <p:cNvSpPr/>
          <p:nvPr/>
        </p:nvSpPr>
        <p:spPr>
          <a:xfrm>
            <a:off x="731520" y="1691640"/>
            <a:ext cx="4754880" cy="4663440"/>
          </a:xfrm>
          <a:prstGeom prst="roundRect">
            <a:avLst>
              <a:gd name="adj" fmla="val 4902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331720"/>
            <a:ext cx="4297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Lexical analysis converts a character stream into a sequence of tokens.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Flex generates a scanner from regular-expression rules and associated actions.</a:t>
            </a:r>
          </a:p>
          <a:p>
            <a:pPr marL="177800" indent="-177800">
              <a:spcAft>
                <a:spcPts val="1200"/>
              </a:spcAft>
              <a:buSzPct val="100000"/>
              <a:buFontTx/>
              <a:buChar char="•"/>
            </a:pPr>
            <a:r>
              <a:rPr lang="en-IN" sz="1500" dirty="0">
                <a:solidFill>
                  <a:schemeClr val="tx2"/>
                </a:solidFill>
              </a:rPr>
              <a:t>Our </a:t>
            </a:r>
            <a:r>
              <a:rPr lang="en-IN" sz="1500" dirty="0" err="1">
                <a:solidFill>
                  <a:schemeClr val="tx2"/>
                </a:solidFill>
              </a:rPr>
              <a:t>lexer</a:t>
            </a:r>
            <a:r>
              <a:rPr lang="en-IN" sz="1500" dirty="0">
                <a:solidFill>
                  <a:schemeClr val="tx2"/>
                </a:solidFill>
              </a:rPr>
              <a:t> recognizes selected C-style tokens, detects identifiers exceeding the eight-character limit, and builds a symbol table.</a:t>
            </a:r>
          </a:p>
          <a:p>
            <a:pPr marL="177800" indent="-177800">
              <a:spcAft>
                <a:spcPts val="1200"/>
              </a:spcAft>
              <a:buSzPct val="100000"/>
              <a:buFontTx/>
              <a:buChar char="•"/>
            </a:pPr>
            <a:r>
              <a:rPr lang="en-IN" sz="1600" dirty="0"/>
              <a:t> </a:t>
            </a:r>
            <a:r>
              <a:rPr lang="en-IN" sz="1500" dirty="0">
                <a:solidFill>
                  <a:schemeClr val="tx2"/>
                </a:solidFill>
              </a:rPr>
              <a:t>It does not check complete statement grammar or verify whether identifiers have been declared.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endParaRPr lang="en-IN" sz="1500" dirty="0">
              <a:solidFill>
                <a:schemeClr val="tx2"/>
              </a:solidFill>
            </a:endParaRPr>
          </a:p>
        </p:txBody>
      </p:sp>
      <p:sp>
        <p:nvSpPr>
          <p:cNvPr id="6" name="Panel"/>
          <p:cNvSpPr/>
          <p:nvPr/>
        </p:nvSpPr>
        <p:spPr>
          <a:xfrm>
            <a:off x="5669280" y="1691640"/>
            <a:ext cx="5788152" cy="4663440"/>
          </a:xfrm>
          <a:prstGeom prst="roundRect">
            <a:avLst>
              <a:gd name="adj" fmla="val 4902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1783080"/>
            <a:ext cx="5422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897880" y="2286000"/>
            <a:ext cx="5394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1. K. L. P. Mishra and N. Chandrasekaran, </a:t>
            </a:r>
            <a:r>
              <a:rPr lang="en-US" sz="1500" i="1" dirty="0">
                <a:solidFill>
                  <a:schemeClr val="tx2"/>
                </a:solidFill>
              </a:rPr>
              <a:t>Theory of Computer Science: Automata, Languages and Computation</a:t>
            </a:r>
            <a:r>
              <a:rPr lang="en-US" sz="1500" dirty="0">
                <a:solidFill>
                  <a:schemeClr val="tx2"/>
                </a:solidFill>
              </a:rPr>
              <a:t>, 3rd ed., Prentice-Hall of India. Ch. 3, 3.2, p. 73; Ch. 5, 5.1, pp. 136–139; Ch. 5, 5.2, from p. 140.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2. A. V. Aho, R. Sethi and J. D. Ullman, </a:t>
            </a:r>
            <a:r>
              <a:rPr lang="en-US" sz="1500" i="1" dirty="0">
                <a:solidFill>
                  <a:schemeClr val="tx2"/>
                </a:solidFill>
              </a:rPr>
              <a:t>Compilers: Principles, Techniques, and Tools</a:t>
            </a:r>
            <a:r>
              <a:rPr lang="en-US" sz="1500" dirty="0">
                <a:solidFill>
                  <a:schemeClr val="tx2"/>
                </a:solidFill>
              </a:rPr>
              <a:t>, Pearson Education.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3. J. R. Levine, T. Mason and D. Brown, </a:t>
            </a:r>
            <a:r>
              <a:rPr lang="en-US" sz="1500" i="1" dirty="0">
                <a:solidFill>
                  <a:schemeClr val="tx2"/>
                </a:solidFill>
              </a:rPr>
              <a:t>Lex &amp; Yacc</a:t>
            </a:r>
            <a:r>
              <a:rPr lang="en-US" sz="1500" dirty="0">
                <a:solidFill>
                  <a:schemeClr val="tx2"/>
                </a:solidFill>
              </a:rPr>
              <a:t>, O’Reilly Media.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4. College Laboratory Manual, </a:t>
            </a:r>
            <a:r>
              <a:rPr lang="en-US" sz="1500" i="1" dirty="0">
                <a:solidFill>
                  <a:schemeClr val="tx2"/>
                </a:solidFill>
              </a:rPr>
              <a:t>LEX and YACC</a:t>
            </a:r>
            <a:r>
              <a:rPr lang="en-US" sz="1500" dirty="0">
                <a:solidFill>
                  <a:schemeClr val="tx2"/>
                </a:solidFill>
              </a:rPr>
              <a:t>, Experiment 1: “Lexical Analyzer for HLL Using LEX,” pp. 1–4.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5. </a:t>
            </a:r>
            <a:r>
              <a:rPr lang="en-US" sz="1500" i="1" dirty="0">
                <a:solidFill>
                  <a:schemeClr val="tx2"/>
                </a:solidFill>
              </a:rPr>
              <a:t>The Flex Manual</a:t>
            </a:r>
            <a:r>
              <a:rPr lang="en-US" sz="1500" dirty="0">
                <a:solidFill>
                  <a:schemeClr val="tx2"/>
                </a:solidFill>
              </a:rPr>
              <a:t>, documentation for Flex scanner specifications and generated scanner functions.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55321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xical Analysis Academic">
  <a:themeElements>
    <a:clrScheme name="Lexical Analysis Academic">
      <a:dk1>
        <a:srgbClr val="0F172A"/>
      </a:dk1>
      <a:lt1>
        <a:srgbClr val="FFFFFF"/>
      </a:lt1>
      <a:dk2>
        <a:srgbClr val="475569"/>
      </a:dk2>
      <a:lt2>
        <a:srgbClr val="F7F4EC"/>
      </a:lt2>
      <a:accent1>
        <a:srgbClr val="0F9B8A"/>
      </a:accent1>
      <a:accent2>
        <a:srgbClr val="1E293B"/>
      </a:accent2>
      <a:accent3>
        <a:srgbClr val="E6F4F1"/>
      </a:accent3>
      <a:accent4>
        <a:srgbClr val="94A3B8"/>
      </a:accent4>
      <a:accent5>
        <a:srgbClr val="B45309"/>
      </a:accent5>
      <a:accent6>
        <a:srgbClr val="64748B"/>
      </a:accent6>
      <a:hlink>
        <a:srgbClr val="0F9B8A"/>
      </a:hlink>
      <a:folHlink>
        <a:srgbClr val="475569"/>
      </a:folHlink>
    </a:clrScheme>
    <a:fontScheme name="Lexical Analysis Academic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erdan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1833</Words>
  <Application>Microsoft Office PowerPoint</Application>
  <PresentationFormat>Widescreen</PresentationFormat>
  <Paragraphs>212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Courier New</vt:lpstr>
      <vt:lpstr>Georgia</vt:lpstr>
      <vt:lpstr>Verdana</vt:lpstr>
      <vt:lpstr>Lexical Analysis Academic</vt:lpstr>
      <vt:lpstr>PowerPoint Presentation</vt:lpstr>
      <vt:lpstr>Where Lexical Analysis Fits in a Compiler</vt:lpstr>
      <vt:lpstr>From Character Streams to Tokens</vt:lpstr>
      <vt:lpstr>Understanding the Building Blocks of Lexical Analysis</vt:lpstr>
      <vt:lpstr>Regular Expressions Describe Patterns; Finite Automata Recognise Them</vt:lpstr>
      <vt:lpstr>From a Flex Specification to an Executable Scanner</vt:lpstr>
      <vt:lpstr>Implementing a Source-Code Lexer with Flex</vt:lpstr>
      <vt:lpstr>Lexer Execution: Token Output</vt:lpstr>
      <vt:lpstr>Lexer Execution: Identifier Symbol Table</vt:lpstr>
      <vt:lpstr>Conclusion and References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Lexical Analysis and Lex/Flex Implementation Demo</dc:title>
  <dc:subject>PptxGenJS Presentation</dc:subject>
  <dc:creator>PptxGenJS</dc:creator>
  <cp:lastModifiedBy>Palak Chiraniya</cp:lastModifiedBy>
  <cp:revision>5</cp:revision>
  <dcterms:created xsi:type="dcterms:W3CDTF">2026-10-20T18:33:56Z</dcterms:created>
  <dcterms:modified xsi:type="dcterms:W3CDTF">2026-10-20T20:00:08Z</dcterms:modified>
</cp:coreProperties>
</file>